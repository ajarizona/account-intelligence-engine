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8B04B"/>
                </a:solidFill>
                <a:latin typeface="Calibri"/>
              </a:rPr>
              <a:t>ACCOUNT INTELLIGENCE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Cambria"/>
              </a:rPr>
              <a:t>Harborview Financial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400" b="0" i="1">
                <a:solidFill>
                  <a:srgbClr val="CADCFC"/>
                </a:solidFill>
                <a:latin typeface="Cambria"/>
              </a:rPr>
              <a:t>Agentic Value Readout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926561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ADCFC"/>
                </a:solidFill>
                <a:latin typeface="Calibri"/>
              </a:rPr>
              <a:t>An agentic approach helps a regulated bank grow without growing risk in step. The value comes from purpose-built, governed agents embedded in content, marketing, and service workflows, not from handing work to uncontrolled autonomous systems.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1">
                <a:solidFill>
                  <a:srgbClr val="9AA8D0"/>
                </a:solidFill>
                <a:latin typeface="Calibri"/>
              </a:rPr>
              <a:t>Synthetic. Modeled on the shape of a generic regional-bank 10-K. No real institution.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8B04B"/>
                </a:solidFill>
                <a:latin typeface="Calibri"/>
              </a:rPr>
              <a:t>WHAT WE HEARD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1E2761"/>
                </a:solidFill>
                <a:latin typeface="Cambria"/>
              </a:rPr>
              <a:t>Your stated priorities, in your own words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272887" cy="1051560"/>
          </a:xfrm>
          <a:prstGeom prst="roundRect">
            <a:avLst>
              <a:gd name="adj" fmla="val 6000"/>
            </a:avLst>
          </a:prstGeom>
          <a:solidFill>
            <a:srgbClr val="F2F5FC"/>
          </a:solidFill>
          <a:ln w="12700">
            <a:solidFill>
              <a:srgbClr val="DDE4F5"/>
            </a:solidFill>
          </a:ln>
          <a:effectLst>
            <a:outerShdw blurRad="90000" dist="38100" dir="5400000" rotWithShape="0">
              <a:srgbClr val="1E2761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19072"/>
            <a:ext cx="48156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Risk &amp; Regulatory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48156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33850"/>
                </a:solidFill>
                <a:latin typeface="Calibri"/>
              </a:rPr>
              <a:t>Filings emphasize regulatory scrutiny and disciplined execution as a moderate-to-low risk appetite.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554480"/>
            <a:ext cx="5272887" cy="1051560"/>
          </a:xfrm>
          <a:prstGeom prst="roundRect">
            <a:avLst>
              <a:gd name="adj" fmla="val 6000"/>
            </a:avLst>
          </a:prstGeom>
          <a:solidFill>
            <a:srgbClr val="F2F5FC"/>
          </a:solidFill>
          <a:ln w="12700">
            <a:solidFill>
              <a:srgbClr val="DDE4F5"/>
            </a:solidFill>
          </a:ln>
          <a:effectLst>
            <a:outerShdw blurRad="90000" dist="38100" dir="5400000" rotWithShape="0">
              <a:srgbClr val="1E2761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07327" y="1719072"/>
            <a:ext cx="48156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Customer Acquisition &amp; Growth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7327" y="2057400"/>
            <a:ext cx="48156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33850"/>
                </a:solidFill>
                <a:latin typeface="Calibri"/>
              </a:rPr>
              <a:t>Expansion into new Southeast markets and specialty banking groups.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834639"/>
            <a:ext cx="5272887" cy="1051560"/>
          </a:xfrm>
          <a:prstGeom prst="roundRect">
            <a:avLst>
              <a:gd name="adj" fmla="val 6000"/>
            </a:avLst>
          </a:prstGeom>
          <a:solidFill>
            <a:srgbClr val="F2F5FC"/>
          </a:solidFill>
          <a:ln w="12700">
            <a:solidFill>
              <a:srgbClr val="DDE4F5"/>
            </a:solidFill>
          </a:ln>
          <a:effectLst>
            <a:outerShdw blurRad="90000" dist="38100" dir="5400000" rotWithShape="0">
              <a:srgbClr val="1E2761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99232"/>
            <a:ext cx="48156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Cross-Sell &amp; Share of Wallet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337559"/>
            <a:ext cx="48156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33850"/>
                </a:solidFill>
                <a:latin typeface="Calibri"/>
              </a:rPr>
              <a:t>Push toward fee-based revenue and deeper primary relationships.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39"/>
            <a:ext cx="5272887" cy="1051560"/>
          </a:xfrm>
          <a:prstGeom prst="roundRect">
            <a:avLst>
              <a:gd name="adj" fmla="val 6000"/>
            </a:avLst>
          </a:prstGeom>
          <a:solidFill>
            <a:srgbClr val="F2F5FC"/>
          </a:solidFill>
          <a:ln w="12700">
            <a:solidFill>
              <a:srgbClr val="DDE4F5"/>
            </a:solidFill>
          </a:ln>
          <a:effectLst>
            <a:outerShdw blurRad="90000" dist="38100" dir="5400000" rotWithShape="0">
              <a:srgbClr val="1E2761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7327" y="2999232"/>
            <a:ext cx="48156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Operational Efficiency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7327" y="3337559"/>
            <a:ext cx="48156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33850"/>
                </a:solidFill>
                <a:latin typeface="Calibri"/>
              </a:rPr>
              <a:t>Cost discipline and cost-to-income focus stated as a priority.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114800"/>
            <a:ext cx="5272887" cy="1051560"/>
          </a:xfrm>
          <a:prstGeom prst="roundRect">
            <a:avLst>
              <a:gd name="adj" fmla="val 6000"/>
            </a:avLst>
          </a:prstGeom>
          <a:solidFill>
            <a:srgbClr val="F2F5FC"/>
          </a:solidFill>
          <a:ln w="12700">
            <a:solidFill>
              <a:srgbClr val="DDE4F5"/>
            </a:solidFill>
          </a:ln>
          <a:effectLst>
            <a:outerShdw blurRad="90000" dist="38100" dir="5400000" rotWithShape="0">
              <a:srgbClr val="1E2761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279392"/>
            <a:ext cx="48156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Customer Experience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617720"/>
            <a:ext cx="48156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33850"/>
                </a:solidFill>
                <a:latin typeface="Calibri"/>
              </a:rPr>
              <a:t>Customer-centric execution named as a strategic pillar.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4114800"/>
            <a:ext cx="5272887" cy="1051560"/>
          </a:xfrm>
          <a:prstGeom prst="roundRect">
            <a:avLst>
              <a:gd name="adj" fmla="val 6000"/>
            </a:avLst>
          </a:prstGeom>
          <a:solidFill>
            <a:srgbClr val="F2F5FC"/>
          </a:solidFill>
          <a:ln w="12700">
            <a:solidFill>
              <a:srgbClr val="DDE4F5"/>
            </a:solidFill>
          </a:ln>
          <a:effectLst>
            <a:outerShdw blurRad="90000" dist="38100" dir="5400000" rotWithShape="0">
              <a:srgbClr val="1E2761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7327" y="4279392"/>
            <a:ext cx="48156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E2761"/>
                </a:solidFill>
                <a:latin typeface="Calibri"/>
              </a:rPr>
              <a:t>Customer Retention &amp; Loyalty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7327" y="4617720"/>
            <a:ext cx="48156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33850"/>
                </a:solidFill>
                <a:latin typeface="Calibri"/>
              </a:rPr>
              <a:t>Deepening primary relationships to protect the funding base.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8B04B"/>
                </a:solidFill>
                <a:latin typeface="Calibri"/>
              </a:rPr>
              <a:t>THE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1E2761"/>
                </a:solidFill>
                <a:latin typeface="Cambria"/>
              </a:rPr>
              <a:t>Where we can move first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1709928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600200"/>
            <a:ext cx="99971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Meridian Govern for Risk &amp; Regulatory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984248"/>
            <a:ext cx="98142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33850"/>
                </a:solidFill>
                <a:latin typeface="Calibri"/>
              </a:rPr>
              <a:t>Meridian Govern addresses Risk &amp; Regulatory Compliance.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761488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651760"/>
            <a:ext cx="99971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Meridian Profile for Customer Acquisition &amp; Growth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035808"/>
            <a:ext cx="98142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33850"/>
                </a:solidFill>
                <a:latin typeface="Calibri"/>
              </a:rPr>
              <a:t>Meridian Profile addresses Customer Acquisition &amp; Growth, and also supports Cross-Sell &amp; Share of Wallet, Customer Retention &amp; Loyalty.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3813048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703320"/>
            <a:ext cx="99971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Meridian Journeys for Customer Acquisition &amp; Growth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4087368"/>
            <a:ext cx="98142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33850"/>
                </a:solidFill>
                <a:latin typeface="Calibri"/>
              </a:rPr>
              <a:t>Meridian Journeys addresses Customer Acquisition &amp; Growth, and also supports Customer Retention &amp; Loyalty.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4864607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754879"/>
            <a:ext cx="99971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Meridian Content Studio for Operational Efficiency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5138927"/>
            <a:ext cx="98142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33850"/>
                </a:solidFill>
                <a:latin typeface="Calibri"/>
              </a:rPr>
              <a:t>Meridian Content Studio addresses Operational Efficiency.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8B04B"/>
                </a:solidFill>
                <a:latin typeface="Calibri"/>
              </a:rPr>
              <a:t>THE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1E2761"/>
                </a:solidFill>
                <a:latin typeface="Cambria"/>
              </a:rPr>
              <a:t>Crawl, walk, run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3393338" cy="3383280"/>
          </a:xfrm>
          <a:prstGeom prst="roundRect">
            <a:avLst>
              <a:gd name="adj" fmla="val 6000"/>
            </a:avLst>
          </a:prstGeom>
          <a:solidFill>
            <a:srgbClr val="F2F5FC"/>
          </a:solidFill>
          <a:ln w="12700">
            <a:solidFill>
              <a:srgbClr val="DDE4F5"/>
            </a:solidFill>
          </a:ln>
          <a:effectLst>
            <a:outerShdw blurRad="90000" dist="38100" dir="5400000" rotWithShape="0">
              <a:srgbClr val="1E2761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Crawl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293613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333850"/>
                </a:solidFill>
                <a:latin typeface="Calibri"/>
              </a:rPr>
              <a:t>Prove governed value on a contained use case, where the risk is lowest and the audit story is cleanest.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91840"/>
            <a:ext cx="293613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Meridian Govern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547872"/>
            <a:ext cx="293613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6B718C"/>
                </a:solidFill>
                <a:latin typeface="Calibri"/>
              </a:rPr>
              <a:t>Risk &amp; Regulatory Compliance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950208"/>
            <a:ext cx="293613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Meridian Analytics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206240"/>
            <a:ext cx="293613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6B718C"/>
                </a:solidFill>
                <a:latin typeface="Calibri"/>
              </a:rPr>
              <a:t>Customer Experience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9178" y="1600200"/>
            <a:ext cx="3393338" cy="3383280"/>
          </a:xfrm>
          <a:prstGeom prst="roundRect">
            <a:avLst>
              <a:gd name="adj" fmla="val 6000"/>
            </a:avLst>
          </a:prstGeom>
          <a:solidFill>
            <a:srgbClr val="F2F5FC"/>
          </a:solidFill>
          <a:ln w="12700">
            <a:solidFill>
              <a:srgbClr val="DDE4F5"/>
            </a:solidFill>
          </a:ln>
          <a:effectLst>
            <a:outerShdw blurRad="90000" dist="38100" dir="5400000" rotWithShape="0">
              <a:srgbClr val="1E2761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27778" y="182880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3B4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Walk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2377440"/>
            <a:ext cx="293613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333850"/>
                </a:solidFill>
                <a:latin typeface="Calibri"/>
              </a:rPr>
              <a:t>Extend into service and personalization once the foundation holds.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3291840"/>
            <a:ext cx="293613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Meridian Concierge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7778" y="3547872"/>
            <a:ext cx="293613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6B718C"/>
                </a:solidFill>
                <a:latin typeface="Calibri"/>
              </a:rPr>
              <a:t>Customer Experience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7778" y="3950208"/>
            <a:ext cx="293613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Meridian Content Studio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7778" y="4206240"/>
            <a:ext cx="293613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6B718C"/>
                </a:solidFill>
                <a:latin typeface="Calibri"/>
              </a:rPr>
              <a:t>Operational Efficiency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8276" y="1600200"/>
            <a:ext cx="3393338" cy="3383280"/>
          </a:xfrm>
          <a:prstGeom prst="roundRect">
            <a:avLst>
              <a:gd name="adj" fmla="val 6000"/>
            </a:avLst>
          </a:prstGeom>
          <a:solidFill>
            <a:srgbClr val="F2F5FC"/>
          </a:solidFill>
          <a:ln w="12700">
            <a:solidFill>
              <a:srgbClr val="DDE4F5"/>
            </a:solidFill>
          </a:ln>
          <a:effectLst>
            <a:outerShdw blurRad="90000" dist="38100" dir="5400000" rotWithShape="0">
              <a:srgbClr val="1E2761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86876" y="182880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161C45"/>
                </a:solidFill>
                <a:latin typeface="Calibri"/>
              </a:rPr>
              <a:t>Run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2377440"/>
            <a:ext cx="293613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333850"/>
                </a:solidFill>
                <a:latin typeface="Calibri"/>
              </a:rPr>
              <a:t>Turn on the growth engine, on a foundation the risk side already trusts.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6876" y="3291840"/>
            <a:ext cx="293613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Meridian Profile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6876" y="3547872"/>
            <a:ext cx="293613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6B718C"/>
                </a:solidFill>
                <a:latin typeface="Calibri"/>
              </a:rPr>
              <a:t>Customer Acquisition &amp; Growth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6876" y="3950208"/>
            <a:ext cx="293613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Meridian Journeys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6876" y="4206240"/>
            <a:ext cx="293613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6B718C"/>
                </a:solidFill>
                <a:latin typeface="Calibri"/>
              </a:rPr>
              <a:t>Customer Acquisition &amp; Growth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21208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1E2761"/>
                </a:solidFill>
                <a:latin typeface="Calibri"/>
              </a:rPr>
              <a:t>We sequence to respect these tensions:  </a:t>
            </a:r>
            <a:r>
              <a:rPr sz="1100" b="0" i="1">
                <a:solidFill>
                  <a:srgbClr val="6B718C"/>
                </a:solidFill>
                <a:latin typeface="Calibri"/>
              </a:rPr>
              <a:t>Lending growth vs. credit quality   |   Deposit gathering vs. cost of funds   |   Growth investment vs. cost-to-income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8B04B"/>
                </a:solidFill>
                <a:latin typeface="Calibri"/>
              </a:rPr>
              <a:t>WHAT EXECUTION 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1E2761"/>
                </a:solidFill>
                <a:latin typeface="Cambria"/>
              </a:rPr>
              <a:t>An honest look at delivery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272887" cy="1234440"/>
          </a:xfrm>
          <a:prstGeom prst="roundRect">
            <a:avLst>
              <a:gd name="adj" fmla="val 6000"/>
            </a:avLst>
          </a:prstGeom>
          <a:solidFill>
            <a:srgbClr val="F2F5FC"/>
          </a:solidFill>
          <a:ln w="12700">
            <a:solidFill>
              <a:srgbClr val="DDE4F5"/>
            </a:solidFill>
          </a:ln>
          <a:effectLst>
            <a:outerShdw blurRad="90000" dist="38100" dir="5400000" rotWithShape="0">
              <a:srgbClr val="1E2761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00784"/>
            <a:ext cx="48156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E2761"/>
                </a:solidFill>
                <a:latin typeface="Calibri"/>
              </a:rPr>
              <a:t>Data quality and segmentation 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481568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33850"/>
                </a:solidFill>
                <a:latin typeface="Calibri"/>
              </a:rPr>
              <a:t>Precise segmentation depends on accurate, complete data across multiple systems, and on integrating external signals cleanly. Gaps and mismatches undermine every downstream use case.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554480"/>
            <a:ext cx="5272887" cy="1234440"/>
          </a:xfrm>
          <a:prstGeom prst="roundRect">
            <a:avLst>
              <a:gd name="adj" fmla="val 6000"/>
            </a:avLst>
          </a:prstGeom>
          <a:solidFill>
            <a:srgbClr val="F2F5FC"/>
          </a:solidFill>
          <a:ln w="12700">
            <a:solidFill>
              <a:srgbClr val="DDE4F5"/>
            </a:solidFill>
          </a:ln>
          <a:effectLst>
            <a:outerShdw blurRad="90000" dist="38100" dir="5400000" rotWithShape="0">
              <a:srgbClr val="1E2761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07327" y="1700784"/>
            <a:ext cx="48156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E2761"/>
                </a:solidFill>
                <a:latin typeface="Calibri"/>
              </a:rPr>
              <a:t>Content personalization at 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7327" y="2103120"/>
            <a:ext cx="481568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33850"/>
                </a:solidFill>
                <a:latin typeface="Calibri"/>
              </a:rPr>
              <a:t>Personalized experiences demand custom content across segments and channels, which can strain creative and development capacity if production is not shortened and governed.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90088"/>
            <a:ext cx="5272887" cy="1234440"/>
          </a:xfrm>
          <a:prstGeom prst="roundRect">
            <a:avLst>
              <a:gd name="adj" fmla="val 6000"/>
            </a:avLst>
          </a:prstGeom>
          <a:solidFill>
            <a:srgbClr val="F2F5FC"/>
          </a:solidFill>
          <a:ln w="12700">
            <a:solidFill>
              <a:srgbClr val="DDE4F5"/>
            </a:solidFill>
          </a:ln>
          <a:effectLst>
            <a:outerShdw blurRad="90000" dist="38100" dir="5400000" rotWithShape="0">
              <a:srgbClr val="1E2761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136392"/>
            <a:ext cx="48156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E2761"/>
                </a:solidFill>
                <a:latin typeface="Calibri"/>
              </a:rPr>
              <a:t>Technology enablement and system dependencies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538728"/>
            <a:ext cx="481568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33850"/>
                </a:solidFill>
                <a:latin typeface="Calibri"/>
              </a:rPr>
              <a:t>Execution spans several platforms and integrations. Activation and tracking must be coordinated across systems, which requires flexibility and delivery bandwidth.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990088"/>
            <a:ext cx="5272887" cy="1234440"/>
          </a:xfrm>
          <a:prstGeom prst="roundRect">
            <a:avLst>
              <a:gd name="adj" fmla="val 6000"/>
            </a:avLst>
          </a:prstGeom>
          <a:solidFill>
            <a:srgbClr val="F2F5FC"/>
          </a:solidFill>
          <a:ln w="12700">
            <a:solidFill>
              <a:srgbClr val="DDE4F5"/>
            </a:solidFill>
          </a:ln>
          <a:effectLst>
            <a:outerShdw blurRad="90000" dist="38100" dir="5400000" rotWithShape="0">
              <a:srgbClr val="1E2761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7327" y="3136392"/>
            <a:ext cx="48156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E2761"/>
                </a:solidFill>
                <a:latin typeface="Calibri"/>
              </a:rPr>
              <a:t>Measurement and attribution complexity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7327" y="3538728"/>
            <a:ext cx="481568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33850"/>
                </a:solidFill>
                <a:latin typeface="Calibri"/>
              </a:rPr>
              <a:t>Attributing engagement and conversion to specific tactics is hard when many things move an outcome. Honest measurement claims incremental lift against a holdout, not gross results.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425696"/>
            <a:ext cx="5272887" cy="1234440"/>
          </a:xfrm>
          <a:prstGeom prst="roundRect">
            <a:avLst>
              <a:gd name="adj" fmla="val 6000"/>
            </a:avLst>
          </a:prstGeom>
          <a:solidFill>
            <a:srgbClr val="F2F5FC"/>
          </a:solidFill>
          <a:ln w="12700">
            <a:solidFill>
              <a:srgbClr val="DDE4F5"/>
            </a:solidFill>
          </a:ln>
          <a:effectLst>
            <a:outerShdw blurRad="90000" dist="38100" dir="5400000" rotWithShape="0">
              <a:srgbClr val="1E2761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572000"/>
            <a:ext cx="48156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E2761"/>
                </a:solidFill>
                <a:latin typeface="Calibri"/>
              </a:rPr>
              <a:t>Governance and human-in-the-loop 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974336"/>
            <a:ext cx="481568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33850"/>
                </a:solidFill>
                <a:latin typeface="Calibri"/>
              </a:rPr>
              <a:t>In regulated settings, agent actions must stay inside policy, honor consent, and hand off to a human where accountability is required. Governance is a design requirement, not an afterthought.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E8B04B"/>
                </a:solidFill>
                <a:latin typeface="Calibri"/>
              </a:rPr>
              <a:t>HOW WE MEASURE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We prove value, we do not assert it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514600"/>
            <a:ext cx="502920" cy="502920"/>
          </a:xfrm>
          <a:prstGeom prst="ellipse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161C45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468880"/>
            <a:ext cx="94484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CADCFC"/>
                </a:solidFill>
                <a:latin typeface="Calibri"/>
              </a:rPr>
              <a:t>Baseline 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852928"/>
            <a:ext cx="92656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7D1EE"/>
                </a:solidFill>
                <a:latin typeface="Calibri"/>
              </a:rPr>
              <a:t>We record the starting point before anything ships, so the gain is measured against reality.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566160"/>
            <a:ext cx="502920" cy="502920"/>
          </a:xfrm>
          <a:prstGeom prst="ellipse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161C45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520440"/>
            <a:ext cx="94484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CADCFC"/>
                </a:solidFill>
                <a:latin typeface="Calibri"/>
              </a:rPr>
              <a:t>Claim lift against a holdout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904488"/>
            <a:ext cx="92656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7D1EE"/>
                </a:solidFill>
                <a:latin typeface="Calibri"/>
              </a:rPr>
              <a:t>We report incremental lift versus a control, not gross results.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4617720"/>
            <a:ext cx="502920" cy="502920"/>
          </a:xfrm>
          <a:prstGeom prst="ellipse">
            <a:avLst/>
          </a:prstGeom>
          <a:solidFill>
            <a:srgbClr val="E8B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600" b="1">
                <a:solidFill>
                  <a:srgbClr val="161C45"/>
                </a:solidFill>
                <a:latin typeface="Cambr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572000"/>
            <a:ext cx="94484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CADCFC"/>
                </a:solidFill>
                <a:latin typeface="Calibri"/>
              </a:rPr>
              <a:t>Agree the scorecard with Finance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956048"/>
            <a:ext cx="92656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7D1EE"/>
                </a:solidFill>
                <a:latin typeface="Calibri"/>
              </a:rPr>
              <a:t>We set the measures up front, so the review confirms value rather than negotiating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E8B04B"/>
                </a:solidFill>
                <a:latin typeface="Calibri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1E2761"/>
                </a:solidFill>
                <a:latin typeface="Cambria"/>
              </a:rPr>
              <a:t>Ranked use cases and scores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8016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 i="1">
                <a:solidFill>
                  <a:srgbClr val="6B718C"/>
                </a:solidFill>
                <a:latin typeface="Calibri"/>
              </a:rPr>
              <a:t>Decision support, not a customer metric. Rubric: alignment 0.35, value 0.30, feasibility 0.20, evidence 0.15.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737360"/>
          <a:ext cx="108813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200400"/>
                <a:gridCol w="1188720"/>
                <a:gridCol w="1188720"/>
                <a:gridCol w="1188720"/>
                <a:gridCol w="118872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Solution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Primary objective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Align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Feasible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Score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850"/>
                          </a:solidFill>
                          <a:latin typeface="Calibri"/>
                        </a:rPr>
                        <a:t>Meridian Govern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850"/>
                          </a:solidFill>
                          <a:latin typeface="Calibri"/>
                        </a:rPr>
                        <a:t>Risk &amp; Regulatory Compliance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850"/>
                          </a:solidFill>
                          <a:latin typeface="Calibri"/>
                        </a:rPr>
                        <a:t>0.90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850"/>
                          </a:solidFill>
                          <a:latin typeface="Calibri"/>
                        </a:rPr>
                        <a:t>0.70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850"/>
                          </a:solidFill>
                          <a:latin typeface="Calibri"/>
                        </a:rPr>
                        <a:t>0.90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0.780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850"/>
                          </a:solidFill>
                          <a:latin typeface="Calibri"/>
                        </a:rPr>
                        <a:t>Meridian Profile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850"/>
                          </a:solidFill>
                          <a:latin typeface="Calibri"/>
                        </a:rPr>
                        <a:t>Customer Acquisition &amp; Growth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850"/>
                          </a:solidFill>
                          <a:latin typeface="Calibri"/>
                        </a:rPr>
                        <a:t>0.80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850"/>
                          </a:solidFill>
                          <a:latin typeface="Calibri"/>
                        </a:rPr>
                        <a:t>0.90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850"/>
                          </a:solidFill>
                          <a:latin typeface="Calibri"/>
                        </a:rPr>
                        <a:t>0.60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0.745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850"/>
                          </a:solidFill>
                          <a:latin typeface="Calibri"/>
                        </a:rPr>
                        <a:t>Meridian Journeys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850"/>
                          </a:solidFill>
                          <a:latin typeface="Calibri"/>
                        </a:rPr>
                        <a:t>Customer Acquisition &amp; Growth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850"/>
                          </a:solidFill>
                          <a:latin typeface="Calibri"/>
                        </a:rPr>
                        <a:t>0.80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850"/>
                          </a:solidFill>
                          <a:latin typeface="Calibri"/>
                        </a:rPr>
                        <a:t>0.85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850"/>
                          </a:solidFill>
                          <a:latin typeface="Calibri"/>
                        </a:rPr>
                        <a:t>0.50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0.703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850"/>
                          </a:solidFill>
                          <a:latin typeface="Calibri"/>
                        </a:rPr>
                        <a:t>Meridian Content Studio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850"/>
                          </a:solidFill>
                          <a:latin typeface="Calibri"/>
                        </a:rPr>
                        <a:t>Operational Efficiency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850"/>
                          </a:solidFill>
                          <a:latin typeface="Calibri"/>
                        </a:rPr>
                        <a:t>0.75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850"/>
                          </a:solidFill>
                          <a:latin typeface="Calibri"/>
                        </a:rPr>
                        <a:t>0.70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850"/>
                          </a:solidFill>
                          <a:latin typeface="Calibri"/>
                        </a:rPr>
                        <a:t>0.70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0.688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850"/>
                          </a:solidFill>
                          <a:latin typeface="Calibri"/>
                        </a:rPr>
                        <a:t>Meridian Analytics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850"/>
                          </a:solidFill>
                          <a:latin typeface="Calibri"/>
                        </a:rPr>
                        <a:t>Customer Experience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850"/>
                          </a:solidFill>
                          <a:latin typeface="Calibri"/>
                        </a:rPr>
                        <a:t>0.60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850"/>
                          </a:solidFill>
                          <a:latin typeface="Calibri"/>
                        </a:rPr>
                        <a:t>0.60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850"/>
                          </a:solidFill>
                          <a:latin typeface="Calibri"/>
                        </a:rPr>
                        <a:t>0.80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0.618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850"/>
                          </a:solidFill>
                          <a:latin typeface="Calibri"/>
                        </a:rPr>
                        <a:t>Meridian Concierge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850"/>
                          </a:solidFill>
                          <a:latin typeface="Calibri"/>
                        </a:rPr>
                        <a:t>Customer Experience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850"/>
                          </a:solidFill>
                          <a:latin typeface="Calibri"/>
                        </a:rPr>
                        <a:t>0.60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850"/>
                          </a:solidFill>
                          <a:latin typeface="Calibri"/>
                        </a:rPr>
                        <a:t>0.60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850"/>
                          </a:solidFill>
                          <a:latin typeface="Calibri"/>
                        </a:rPr>
                        <a:t>0.65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2761"/>
                          </a:solidFill>
                          <a:latin typeface="Calibri"/>
                        </a:rPr>
                        <a:t>0.595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The next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94484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CADCFC"/>
                </a:solidFill>
                <a:latin typeface="Calibri"/>
              </a:rPr>
              <a:t>Prove the crawl phase on one contained use case, earn the trust, then let the roadmap carry the growth.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